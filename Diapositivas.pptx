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</p:sldIdLst>
  <p:sldSz cx="9144000" cy="6858000" type="screen4x3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DKW44KrhdFMkAkB4kkrON3CSm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092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2000" cy="46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49525" rIns="99050" bIns="495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s-CO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1" name="Google Shape;21;p9"/>
          <p:cNvCxnSpPr/>
          <p:nvPr/>
        </p:nvCxnSpPr>
        <p:spPr>
          <a:xfrm>
            <a:off x="539552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9"/>
          <p:cNvCxnSpPr/>
          <p:nvPr/>
        </p:nvCxnSpPr>
        <p:spPr>
          <a:xfrm>
            <a:off x="539552" y="980728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  <p:cxnSp>
        <p:nvCxnSpPr>
          <p:cNvPr id="29" name="Google Shape;29;p10"/>
          <p:cNvCxnSpPr/>
          <p:nvPr/>
        </p:nvCxnSpPr>
        <p:spPr>
          <a:xfrm>
            <a:off x="467544" y="1484784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10"/>
          <p:cNvCxnSpPr/>
          <p:nvPr/>
        </p:nvCxnSpPr>
        <p:spPr>
          <a:xfrm>
            <a:off x="467544" y="6237312"/>
            <a:ext cx="7992888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ucid.app/lucidchart/e43f1cc1-b4b3-4619-9b50-fb69d2829e95/view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645840" y="98072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CO" sz="4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Pictionary con cámara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971600" y="2276872"/>
            <a:ext cx="730485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UNIVERSIDAD DE ANTIOQUIA</a:t>
            </a: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dirty="0"/>
              <a:t>Ingeniería Electrónica</a:t>
            </a:r>
            <a:endParaRPr sz="2170"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sz="2170"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r>
              <a:rPr lang="es-CO" sz="2170" dirty="0"/>
              <a:t>Primer trabajo </a:t>
            </a:r>
            <a:endParaRPr sz="2170"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dirty="0"/>
          </a:p>
          <a:p>
            <a:pPr marL="0" marR="0" lvl="0" indent="0" algn="ctr" rtl="0">
              <a:lnSpc>
                <a:spcPct val="80000"/>
              </a:lnSpc>
              <a:spcBef>
                <a:spcPts val="434"/>
              </a:spcBef>
              <a:spcAft>
                <a:spcPts val="0"/>
              </a:spcAft>
              <a:buClr>
                <a:srgbClr val="888888"/>
              </a:buClr>
              <a:buSzPts val="2170"/>
              <a:buFont typeface="Arial"/>
              <a:buNone/>
            </a:pPr>
            <a:endParaRPr sz="217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496"/>
              </a:spcBef>
              <a:spcAft>
                <a:spcPts val="0"/>
              </a:spcAft>
              <a:buClr>
                <a:srgbClr val="888888"/>
              </a:buClr>
              <a:buSzPts val="2480"/>
              <a:buFont typeface="Arial"/>
              <a:buNone/>
            </a:pPr>
            <a:endParaRPr sz="248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331640" y="462872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</a:pPr>
            <a:r>
              <a:rPr lang="es-CO" sz="2400" b="0" i="0" u="none" strike="noStrike" cap="none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Daniel Galvis Ramírez, Oscar Mercado Gómez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spcBef>
                <a:spcPts val="480"/>
              </a:spcBef>
              <a:buClr>
                <a:srgbClr val="888888"/>
              </a:buClr>
              <a:buSzPts val="2400"/>
            </a:pPr>
            <a:r>
              <a:rPr lang="es-CO" sz="2400" dirty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daniel.galvis1@udea.edu.co, oscar.mercado1@udea.edu.co</a:t>
            </a:r>
            <a:endParaRPr sz="3200" b="0" i="0" u="none" strike="noStrike" cap="none" dirty="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609600" y="4270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Problema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26995" y="1679912"/>
            <a:ext cx="7290009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más interactivos y divertidos los juegos grupales tradicionales, usando solo una cámara y sin necesidad de periféricos físicos.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Detectar correctamente el movimiento de un objeto de color específico en tiempo real, y convertir esa trayectoria en un dibujo digital visible para el segundo jugador.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0150" marR="0" lvl="2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“AI Pictionary Game using OpenCV” – GitHub Project (2023)</a:t>
            </a:r>
            <a:r>
              <a:rPr lang="es-CO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</a:p>
          <a:p>
            <a:pPr marL="1200150" marR="0" lvl="2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“Air Canvas: Drawing in the Air using OpenCV and Python” –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GeeksForGeeks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(2022)</a:t>
            </a:r>
          </a:p>
          <a:p>
            <a:pPr marL="1200150" marR="0" lvl="2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“Gesture Recognition based Interactive Games” – ResearchGate (2021)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13681" y="4941168"/>
            <a:ext cx="765837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4355976" y="6381328"/>
            <a:ext cx="46013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lang="es-CO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que coloque párrafos en la presentación tendrá -0.2 en la definitiva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/>
        </p:nvSpPr>
        <p:spPr>
          <a:xfrm>
            <a:off x="395536" y="332656"/>
            <a:ext cx="839024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1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Solución: Ruta seguida</a:t>
            </a:r>
            <a:endParaRPr sz="41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63588" y="1842765"/>
            <a:ext cx="7416823" cy="3067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Conceptos de procesado de imágenes utilizados: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Conversión de espacio de color BGR → HSV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Segmentación por color (</a:t>
            </a:r>
            <a:r>
              <a:rPr lang="es-E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umbralización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cv2.inRange)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Operaciones morfológicas (apertura y dilatación) para eliminar ruido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Detección del centroide del objeto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Superposición de dibujos (fusión de imágenes con cv2.addWeighted)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10652" y="5870220"/>
            <a:ext cx="92827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516716" y="5015235"/>
            <a:ext cx="3347391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A17B4D-498F-1F10-FCAD-396C03418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743" y="3840748"/>
            <a:ext cx="2348973" cy="23489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949F57-8F1C-CA91-86C6-7EDBA8C0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Diagrama de Flujo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3FE3F6-B483-2F1B-1EDA-AD2EE045A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https://lucid.app/lucidchart/e43f1cc1-b4b3-4619-9b50-fb69d2829e95</a:t>
            </a:r>
            <a:r>
              <a:rPr lang="es-CO">
                <a:hlinkClick r:id="rId2"/>
              </a:rPr>
              <a:t>/view</a:t>
            </a:r>
            <a:r>
              <a:rPr lang="es-CO"/>
              <a:t>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21368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395536" y="33265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Solución: Conceptos</a:t>
            </a:r>
            <a:endParaRPr sz="42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06D90ED-EB20-EDF2-EA6A-B2A9B476B52A}"/>
              </a:ext>
            </a:extLst>
          </p:cNvPr>
          <p:cNvSpPr txBox="1"/>
          <p:nvPr/>
        </p:nvSpPr>
        <p:spPr>
          <a:xfrm>
            <a:off x="892629" y="1872343"/>
            <a:ext cx="7369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Etapas:</a:t>
            </a:r>
          </a:p>
          <a:p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s-CO" sz="1800" dirty="0"/>
              <a:t>Preprocesado</a:t>
            </a:r>
          </a:p>
          <a:p>
            <a:pPr marL="342900" indent="-342900">
              <a:buAutoNum type="arabicPeriod"/>
            </a:pPr>
            <a:r>
              <a:rPr lang="es-CO" sz="1800" dirty="0"/>
              <a:t>Segmentado</a:t>
            </a:r>
          </a:p>
          <a:p>
            <a:pPr marL="342900" indent="-342900">
              <a:buAutoNum type="arabicPeriod"/>
            </a:pPr>
            <a:r>
              <a:rPr lang="es-CO" sz="1800" dirty="0"/>
              <a:t>Extracción de características</a:t>
            </a:r>
          </a:p>
          <a:p>
            <a:pPr marL="342900" indent="-342900">
              <a:buAutoNum type="arabicPeriod"/>
            </a:pPr>
            <a:r>
              <a:rPr lang="es-CO" sz="1800" dirty="0"/>
              <a:t>Clasificación</a:t>
            </a:r>
          </a:p>
          <a:p>
            <a:pPr marL="342900" indent="-342900">
              <a:buAutoNum type="arabicPeriod"/>
            </a:pPr>
            <a:r>
              <a:rPr lang="es-CO" sz="1800" dirty="0"/>
              <a:t>Acción </a:t>
            </a:r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F69FECB-9CA6-21FA-F0F9-FC8A857D7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99" y="3429000"/>
            <a:ext cx="6313715" cy="25254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1FDB5-050B-1491-D499-B00FC4CE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Marco Teórico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D9400F-B0DE-9BD3-7E8D-80525FC9E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4172" y="1600200"/>
            <a:ext cx="8229600" cy="4525963"/>
          </a:xfrm>
        </p:spPr>
        <p:txBody>
          <a:bodyPr/>
          <a:lstStyle/>
          <a:p>
            <a:r>
              <a:rPr lang="es-CO" sz="1800" dirty="0"/>
              <a:t>Fundamento matemático:</a:t>
            </a:r>
          </a:p>
          <a:p>
            <a:pPr marL="25400" indent="0">
              <a:buNone/>
            </a:pPr>
            <a:r>
              <a:rPr lang="es-CO" sz="1800" dirty="0"/>
              <a:t>	- Conversión de color:𝐻𝑆𝑉=𝑓(𝐵𝐺𝑅), donde la detección depende de 	umbrales en </a:t>
            </a:r>
            <a:r>
              <a:rPr lang="es-CO" sz="1800" dirty="0" err="1"/>
              <a:t>Hue</a:t>
            </a:r>
            <a:r>
              <a:rPr lang="es-CO" sz="1800" dirty="0"/>
              <a:t> (0–10° y 170–180° para rojo).</a:t>
            </a:r>
          </a:p>
          <a:p>
            <a:pPr marL="25400" indent="0">
              <a:buNone/>
            </a:pPr>
            <a:r>
              <a:rPr lang="es-CO" sz="1800" dirty="0"/>
              <a:t>	- Morfología:</a:t>
            </a:r>
          </a:p>
          <a:p>
            <a:pPr marL="25400" indent="0">
              <a:buNone/>
            </a:pPr>
            <a:r>
              <a:rPr lang="es-CO" sz="1800" dirty="0"/>
              <a:t>		 Apertura: 𝐴∘𝐵=(𝐴⊖𝐵)⊕𝐵</a:t>
            </a:r>
          </a:p>
          <a:p>
            <a:pPr marL="25400" indent="0">
              <a:buNone/>
            </a:pPr>
            <a:r>
              <a:rPr lang="es-CO" sz="1800" dirty="0"/>
              <a:t>		 Dilatación: 𝐴⊕𝐵</a:t>
            </a:r>
          </a:p>
          <a:p>
            <a:pPr marL="25400" indent="0">
              <a:buNone/>
            </a:pPr>
            <a:r>
              <a:rPr lang="es-CO" sz="1800" dirty="0"/>
              <a:t>	- Centroide del contorno:</a:t>
            </a:r>
          </a:p>
          <a:p>
            <a:pPr marL="25400" indent="0">
              <a:buNone/>
            </a:pPr>
            <a:r>
              <a:rPr lang="es-CO" sz="1800" dirty="0"/>
              <a:t>		𝐶𝑥=𝑀10/𝑀00</a:t>
            </a:r>
          </a:p>
          <a:p>
            <a:pPr marL="25400" indent="0">
              <a:buNone/>
            </a:pPr>
            <a:r>
              <a:rPr lang="es-CO" sz="1800" dirty="0"/>
              <a:t>		𝐶𝑦=𝑀01/ 𝑀00		​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9BCFE3-AD49-391B-542C-B99C85F4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029" y="3139192"/>
            <a:ext cx="3831771" cy="298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894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306324" y="32363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0"/>
              <a:buFont typeface="Calibri"/>
              <a:buNone/>
            </a:pPr>
            <a:r>
              <a:rPr lang="es-CO" sz="429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429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827584" y="1670443"/>
            <a:ext cx="770834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6097619" y="3363459"/>
            <a:ext cx="26643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1115616" y="4653136"/>
            <a:ext cx="525658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8BB8375-06BA-4465-F1AD-0726872F1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14" y="1805708"/>
            <a:ext cx="7478486" cy="4456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A35C4-BED8-C98F-1919-D47EB017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Líneas Futuras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4398CD-F2CD-9CF2-DD72-E7FD4CF99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4286" y="1768659"/>
            <a:ext cx="667843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Agregar reconocimiento del dibujo usando IA (red neuronal o SVM).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 versión multijugador en red o con puntajes globales.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s-CO" sz="1800" dirty="0"/>
              <a:t>Adaptación dinámica a iluminación.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FF7CC8-9461-B77C-603D-292E6C1EC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94" y="3043010"/>
            <a:ext cx="3270478" cy="28362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E623D2-9086-4DE2-EEA8-23A8C5ECC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629" y="3043010"/>
            <a:ext cx="4032477" cy="283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5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O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Bibliografía y webgrafía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25746" y="1981200"/>
            <a:ext cx="8043340" cy="3820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O" sz="1800" dirty="0"/>
              <a:t>1. </a:t>
            </a:r>
            <a:r>
              <a:rPr lang="es-CO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GeeksForGeeks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 </a:t>
            </a:r>
            <a:r>
              <a:rPr lang="es-CO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Canvas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(https://www.geeksforgeeks.org/air-canvas-using-opencv/)</a:t>
            </a:r>
          </a:p>
          <a:p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GitHub – 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Pictionary </a:t>
            </a:r>
            <a:r>
              <a:rPr lang="es-CO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 (Python + </a:t>
            </a:r>
            <a:r>
              <a:rPr lang="es-CO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s-CO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OpenCV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s-CO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Morphological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CO" sz="18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Transformations</a:t>
            </a:r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Wikipedia – </a:t>
            </a:r>
            <a:r>
              <a:rPr lang="es-CO" sz="1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Color Spaces (HSV)</a:t>
            </a:r>
            <a:endParaRPr lang="es-CO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Presentación en pantalla (4:3)</PresentationFormat>
  <Paragraphs>58</Paragraphs>
  <Slides>9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Noto Sans Symbols</vt:lpstr>
      <vt:lpstr>Tema de Office</vt:lpstr>
      <vt:lpstr>Pictionary con cámara</vt:lpstr>
      <vt:lpstr>Presentación de PowerPoint</vt:lpstr>
      <vt:lpstr>Presentación de PowerPoint</vt:lpstr>
      <vt:lpstr>Diagrama de Flujo</vt:lpstr>
      <vt:lpstr>Presentación de PowerPoint</vt:lpstr>
      <vt:lpstr>Marco Teórico</vt:lpstr>
      <vt:lpstr>Presentación de PowerPoint</vt:lpstr>
      <vt:lpstr>Líneas Futuras</vt:lpstr>
      <vt:lpstr>Bibliografía y webgrafía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Fernández</dc:creator>
  <cp:lastModifiedBy>Daniel Galvis</cp:lastModifiedBy>
  <cp:revision>1</cp:revision>
  <dcterms:modified xsi:type="dcterms:W3CDTF">2025-10-21T23:00:15Z</dcterms:modified>
</cp:coreProperties>
</file>